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7899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3F7"/>
                </a:solidFill>
              </a:defRPr>
            </a:pPr>
            <a:r>
              <a:t>Yet another epsilon</a:t>
            </a:r>
            <a:br/>
            <a:r>
              <a:t>meteor echo simulator</a:t>
            </a:r>
          </a:p>
          <a:p>
            <a:pPr>
              <a:spcBef>
                <a:spcPts val="1600"/>
              </a:spcBef>
              <a:defRPr sz="1900">
                <a:solidFill>
                  <a:srgbClr val="50BEDC"/>
                </a:solidFill>
              </a:defRPr>
            </a:pPr>
            <a:r>
              <a:t>An interactive, phenomenological model of overdense forward-scatter echoes</a:t>
            </a:r>
          </a:p>
          <a:p>
            <a:pPr>
              <a:spcBef>
                <a:spcPts val="2400"/>
              </a:spcBef>
              <a:defRPr sz="1600">
                <a:solidFill>
                  <a:srgbClr val="A5AFBC"/>
                </a:solidFill>
              </a:defRPr>
            </a:pPr>
            <a:r>
              <a:t>International Meteor Conference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5AFBC"/>
                </a:solidFill>
              </a:defRPr>
            </a:pPr>
            <a:r>
              <a:t>International Meteor Conference 2026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3F7"/>
                </a:solidFill>
              </a:defRPr>
            </a:pPr>
            <a: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F0F3F7"/>
                </a:solidFill>
              </a:defRPr>
            </a:pPr>
            <a:r>
              <a:t>• Can a compact trail model generate the characteristic curved / evolving Doppler signatures seen in overdense forward-scatter meteor echoes?</a:t>
            </a:r>
          </a:p>
          <a:p>
            <a:pPr>
              <a:spcAft>
                <a:spcPts val="1100"/>
              </a:spcAft>
              <a:defRPr sz="2000">
                <a:solidFill>
                  <a:srgbClr val="F0F3F7"/>
                </a:solidFill>
              </a:defRPr>
            </a:pPr>
            <a:r>
              <a:t>• Which ingredients matter most: geometry, trail skew, atmospheric shear, or the changing specular contribution?</a:t>
            </a:r>
          </a:p>
          <a:p>
            <a:pPr>
              <a:spcAft>
                <a:spcPts val="1100"/>
              </a:spcAft>
              <a:defRPr sz="2000">
                <a:solidFill>
                  <a:srgbClr val="F0F3F7"/>
                </a:solidFill>
              </a:defRPr>
            </a:pPr>
            <a:r>
              <a:t>• echoSim.py is intended as an experiment: change a parameter → observe the morphology → formulate a hypothesis.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5AFBC"/>
                </a:solidFill>
              </a:defRPr>
            </a:pPr>
            <a:r>
              <a:t>International Meteor Conference 2026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3F7"/>
                </a:solidFill>
              </a:defRPr>
            </a:pPr>
            <a:r>
              <a:t>The model in one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Extended trail represented by a relative-altitude coordinate z.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Initial trail: x₀(z) = tan(α) z.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Each trail element has its own bistatic geometry and Doppler shift.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Wind shear deforms the trail and changes its local slope.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Only the evolving, locally favoured parts of the trail contribute strongly.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The contributions are phase-coherent before they are summed.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5AFBC"/>
                </a:solidFill>
              </a:defRPr>
            </a:pPr>
            <a:r>
              <a:t>International Meteor Conference 2026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3F7"/>
                </a:solidFill>
              </a:defRPr>
            </a:pPr>
            <a:r>
              <a:t>Step 1 — explicit bistatic geometry</a:t>
            </a:r>
          </a:p>
        </p:txBody>
      </p:sp>
      <p:pic>
        <p:nvPicPr>
          <p:cNvPr id="4" name="Picture 3" descr="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58368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371600"/>
            <a:ext cx="4069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50">
                <a:solidFill>
                  <a:srgbClr val="F0F3F7"/>
                </a:solidFill>
              </a:defRPr>
            </a:pPr>
            <a:r>
              <a:t>• Default: Tx–Rx distance = 50 km</a:t>
            </a:r>
          </a:p>
          <a:p>
            <a:pPr>
              <a:spcAft>
                <a:spcPts val="1100"/>
              </a:spcAft>
              <a:defRPr sz="1450">
                <a:solidFill>
                  <a:srgbClr val="F0F3F7"/>
                </a:solidFill>
              </a:defRPr>
            </a:pPr>
            <a:r>
              <a:t>• Reference/specular altitude = 90 km</a:t>
            </a:r>
          </a:p>
          <a:p>
            <a:pPr>
              <a:spcAft>
                <a:spcPts val="1100"/>
              </a:spcAft>
              <a:defRPr sz="1450">
                <a:solidFill>
                  <a:srgbClr val="F0F3F7"/>
                </a:solidFill>
              </a:defRPr>
            </a:pPr>
            <a:r>
              <a:t>• RF frequency = 50.0 MHz → λ = 6.00 m</a:t>
            </a:r>
          </a:p>
          <a:p>
            <a:pPr>
              <a:spcAft>
                <a:spcPts val="1100"/>
              </a:spcAft>
              <a:defRPr sz="1450">
                <a:solidFill>
                  <a:srgbClr val="F0F3F7"/>
                </a:solidFill>
              </a:defRPr>
            </a:pPr>
            <a:r>
              <a:t>• Specular index = minimum of rₜ + rᵣ</a:t>
            </a:r>
          </a:p>
          <a:p>
            <a:pPr>
              <a:spcAft>
                <a:spcPts val="1100"/>
              </a:spcAft>
              <a:defRPr sz="1450">
                <a:solidFill>
                  <a:srgbClr val="F0F3F7"/>
                </a:solidFill>
              </a:defRPr>
            </a:pPr>
            <a:r>
              <a:t>• Local bisector b = normalize(uₜ + uᵣ)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5AFBC"/>
                </a:solidFill>
              </a:defRPr>
            </a:pPr>
            <a:r>
              <a:t>International Meteor Conference 2026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3F7"/>
                </a:solidFill>
              </a:defRPr>
            </a:pPr>
            <a:r>
              <a:t>Step 2 — prescribe an initially skewed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Default trail skew α = 12.0°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The model does not begin with a curved trail: the initial condition is a straight line in the local x–z plane.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Skew changes dx₀/dz, which immediately changes the specularity weighting.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The meteor azimuth and elevation define the 3-D trajectory direction used for the velocity projection.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5AFBC"/>
                </a:solidFill>
              </a:defRPr>
            </a:pPr>
            <a:r>
              <a:t>International Meteor Conference 2026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3F7"/>
                </a:solidFill>
              </a:defRPr>
            </a:pPr>
            <a:r>
              <a:t>Step 3 — add multi-harmonic wind shear</a:t>
            </a:r>
          </a:p>
        </p:txBody>
      </p:sp>
      <p:pic>
        <p:nvPicPr>
          <p:cNvPr id="4" name="Picture 3" descr="w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6629400" cy="34804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71600"/>
            <a:ext cx="4160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0F3F7"/>
                </a:solidFill>
              </a:defRPr>
            </a:pPr>
            <a:r>
              <a:t>• v(z) = V [R₁ sin(πz) + R₂ sin(2πz) + R₃ sin(3πz)]</a:t>
            </a:r>
          </a:p>
          <a:p>
            <a:pPr>
              <a:spcAft>
                <a:spcPts val="1100"/>
              </a:spcAft>
              <a:defRPr sz="1400">
                <a:solidFill>
                  <a:srgbClr val="F0F3F7"/>
                </a:solidFill>
              </a:defRPr>
            </a:pPr>
            <a:r>
              <a:t>• Default: V = 80 m/s; R₁ = 1.00; R₂ = 0.00; R₃ = 0.10</a:t>
            </a:r>
          </a:p>
          <a:p>
            <a:pPr>
              <a:spcAft>
                <a:spcPts val="1100"/>
              </a:spcAft>
              <a:defRPr sz="1400">
                <a:solidFill>
                  <a:srgbClr val="F0F3F7"/>
                </a:solidFill>
              </a:defRPr>
            </a:pPr>
            <a:r>
              <a:t>• The derivative dv/dz is used to deform the trail.</a:t>
            </a:r>
          </a:p>
          <a:p>
            <a:pPr>
              <a:spcAft>
                <a:spcPts val="1100"/>
              </a:spcAft>
              <a:defRPr sz="1400">
                <a:solidFill>
                  <a:srgbClr val="F0F3F7"/>
                </a:solidFill>
              </a:defRPr>
            </a:pPr>
            <a:r>
              <a:t>• The harmonic terms are a compact test field, not a measured atmospheric profile.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5AFBC"/>
                </a:solidFill>
              </a:defRPr>
            </a:pPr>
            <a:r>
              <a:t>International Meteor Conference 2026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3F7"/>
                </a:solidFill>
              </a:defRPr>
            </a:pPr>
            <a:r>
              <a:t>Step 4 — turn motion into Doppler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Build a 3-D velocity vector from the evolving horizontal field and the selected meteor elevation.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Project onto the local bistatic bisector: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f_D(z,t) = v(z,t) · b(z) / λ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Each trail element therefore has a different instantaneous frequency.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Frequency is accumulated as phase, not simply sampled independently: coherence is retained during the trail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5AFBC"/>
                </a:solidFill>
              </a:defRPr>
            </a:pPr>
            <a:r>
              <a:t>International Meteor Conference 2026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3F7"/>
                </a:solidFill>
              </a:defRPr>
            </a:pPr>
            <a:r>
              <a:t>Step 5 — select the scattering parts of the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The model uses a slope-dependent specularity weight: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W(z,t) = exp[−(∂x/∂z)² / A(t)]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Small local slope → larger contribution.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A(t) increases as the echo evolves and includes an additional post-diffusion term after t = 3 s.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Thus the Doppler spectrum is not simply the wind spectrum: geometry and evolving specularity shape what is observed.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5AFBC"/>
                </a:solidFill>
              </a:defRPr>
            </a:pPr>
            <a:r>
              <a:t>International Meteor Conference 2026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3F7"/>
                </a:solidFill>
              </a:defRPr>
            </a:pPr>
            <a:r>
              <a:t>Step 6 — deform, interfere, decay</a:t>
            </a:r>
          </a:p>
        </p:txBody>
      </p:sp>
      <p:pic>
        <p:nvPicPr>
          <p:cNvPr id="4" name="Picture 3" descr="tr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6629400" cy="34804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7160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0F3F7"/>
                </a:solidFill>
              </a:defRPr>
            </a:pPr>
            <a:r>
              <a:t>• Ping-like component decays with τ = 0.12 s.</a:t>
            </a:r>
          </a:p>
          <a:p>
            <a:pPr>
              <a:spcAft>
                <a:spcPts val="1100"/>
              </a:spcAft>
              <a:defRPr sz="1400">
                <a:solidFill>
                  <a:srgbClr val="F0F3F7"/>
                </a:solidFill>
              </a:defRPr>
            </a:pPr>
            <a:r>
              <a:t>• Wind-shear contribution grows with τ = 0.40 s.</a:t>
            </a:r>
          </a:p>
          <a:p>
            <a:pPr>
              <a:spcAft>
                <a:spcPts val="1100"/>
              </a:spcAft>
              <a:defRPr sz="1400">
                <a:solidFill>
                  <a:srgbClr val="F0F3F7"/>
                </a:solidFill>
              </a:defRPr>
            </a:pPr>
            <a:r>
              <a:t>• Trail deformation uses τ·w_s·0.0025.</a:t>
            </a:r>
          </a:p>
          <a:p>
            <a:pPr>
              <a:spcAft>
                <a:spcPts val="1100"/>
              </a:spcAft>
              <a:defRPr sz="1400">
                <a:solidFill>
                  <a:srgbClr val="F0F3F7"/>
                </a:solidFill>
              </a:defRPr>
            </a:pPr>
            <a:r>
              <a:t>• Echo starts at t = 2 s; diffusion/decay starts at t = 3 s.</a:t>
            </a:r>
          </a:p>
          <a:p>
            <a:pPr>
              <a:spcAft>
                <a:spcPts val="1100"/>
              </a:spcAft>
              <a:defRPr sz="1400">
                <a:solidFill>
                  <a:srgbClr val="F0F3F7"/>
                </a:solidFill>
              </a:defRPr>
            </a:pPr>
            <a:r>
              <a:t>• Finally: coherent sum → normalisation → optional Gaussian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5AFBC"/>
                </a:solidFill>
              </a:defRPr>
            </a:pPr>
            <a:r>
              <a:t>International Meteor Conference 2026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3F7"/>
                </a:solidFill>
              </a:defRPr>
            </a:pPr>
            <a:r>
              <a:t>What comes out?</a:t>
            </a:r>
          </a:p>
        </p:txBody>
      </p:sp>
      <p:pic>
        <p:nvPicPr>
          <p:cNvPr id="4" name="Picture 3" descr="spect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31520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371600"/>
            <a:ext cx="3429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50">
                <a:solidFill>
                  <a:srgbClr val="F0F3F7"/>
                </a:solidFill>
              </a:defRPr>
            </a:pPr>
            <a:r>
              <a:t>• Audio carrier = 1 kHz.</a:t>
            </a:r>
          </a:p>
          <a:p>
            <a:pPr>
              <a:spcAft>
                <a:spcPts val="1100"/>
              </a:spcAft>
              <a:defRPr sz="1350">
                <a:solidFill>
                  <a:srgbClr val="F0F3F7"/>
                </a:solidFill>
              </a:defRPr>
            </a:pPr>
            <a:r>
              <a:t>• RF Doppler is added to the audio carrier.</a:t>
            </a:r>
          </a:p>
          <a:p>
            <a:pPr>
              <a:spcAft>
                <a:spcPts val="1100"/>
              </a:spcAft>
              <a:defRPr sz="1350">
                <a:solidFill>
                  <a:srgbClr val="F0F3F7"/>
                </a:solidFill>
              </a:defRPr>
            </a:pPr>
            <a:r>
              <a:t>• Default GUI values shown here.</a:t>
            </a:r>
          </a:p>
          <a:p>
            <a:pPr>
              <a:spcAft>
                <a:spcPts val="1100"/>
              </a:spcAft>
              <a:defRPr sz="1350">
                <a:solidFill>
                  <a:srgbClr val="F0F3F7"/>
                </a:solidFill>
              </a:defRPr>
            </a:pPr>
            <a:r>
              <a:t>• The spectrogram is the main diagnostic: it exposes the evolving distribution of coherent trail contributions.</a:t>
            </a:r>
          </a:p>
          <a:p>
            <a:pPr>
              <a:spcAft>
                <a:spcPts val="1100"/>
              </a:spcAft>
              <a:defRPr sz="1350">
                <a:solidFill>
                  <a:srgbClr val="F0F3F7"/>
                </a:solidFill>
              </a:defRPr>
            </a:pPr>
            <a:r>
              <a:t>• Audio playback provides a second, intuitive representation.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5AFBC"/>
                </a:solidFill>
              </a:defRPr>
            </a:pPr>
            <a:r>
              <a:t>International Meteor Conference 2026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3F7"/>
                </a:solidFill>
              </a:defRPr>
            </a:pPr>
            <a:r>
              <a:t>What I would *not*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F0F3F7"/>
                </a:solidFill>
              </a:defRPr>
            </a:pPr>
            <a:r>
              <a:t>• This is not yet a physical inversion model.</a:t>
            </a:r>
          </a:p>
          <a:p>
            <a:pPr>
              <a:spcAft>
                <a:spcPts val="1100"/>
              </a:spcAft>
              <a:defRPr sz="1900">
                <a:solidFill>
                  <a:srgbClr val="F0F3F7"/>
                </a:solidFill>
              </a:defRPr>
            </a:pPr>
            <a:r>
              <a:t>• The wind field is phenomenological.</a:t>
            </a:r>
          </a:p>
          <a:p>
            <a:pPr>
              <a:spcAft>
                <a:spcPts val="1100"/>
              </a:spcAft>
              <a:defRPr sz="1900">
                <a:solidFill>
                  <a:srgbClr val="F0F3F7"/>
                </a:solidFill>
              </a:defRPr>
            </a:pPr>
            <a:r>
              <a:t>• The event envelope is prescribed.</a:t>
            </a:r>
          </a:p>
          <a:p>
            <a:pPr>
              <a:spcAft>
                <a:spcPts val="1100"/>
              </a:spcAft>
              <a:defRPr sz="1900">
                <a:solidFill>
                  <a:srgbClr val="F0F3F7"/>
                </a:solidFill>
              </a:defRPr>
            </a:pPr>
            <a:r>
              <a:t>• The deformation coefficient and specularity aperture are model parameters in the code.</a:t>
            </a:r>
          </a:p>
          <a:p>
            <a:pPr>
              <a:spcAft>
                <a:spcPts val="1100"/>
              </a:spcAft>
              <a:defRPr sz="1900">
                <a:solidFill>
                  <a:srgbClr val="F0F3F7"/>
                </a:solidFill>
              </a:defRPr>
            </a:pPr>
            <a:r>
              <a:t>• The present result is useful for controlled experiments and morphology, but validation against measured overdense echoes is still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5AFBC"/>
                </a:solidFill>
              </a:defRPr>
            </a:pPr>
            <a:r>
              <a:t>International Meteor Conference 2026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0F3F7"/>
                </a:solidFill>
              </a:defRPr>
            </a:pPr>
            <a:r>
              <a:t>Next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Replace the harmonic wind field with measured or atmospheric-model wind profiles.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Compare synthetic and observed spectrograms quantitatively.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Explore the sensitivity to Tx–Rx geometry, trail skew, altitude, frequency and harmonic content.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Introduce a more explicit treatment of trail density, diffusion and scattering efficiency.</a:t>
            </a:r>
          </a:p>
          <a:p>
            <a:pPr>
              <a:spcAft>
                <a:spcPts val="1100"/>
              </a:spcAft>
              <a:defRPr sz="1800">
                <a:solidFill>
                  <a:srgbClr val="F0F3F7"/>
                </a:solidFill>
              </a:defRPr>
            </a:pPr>
            <a:r>
              <a:t>• Use the simulator to test whether particular Doppler morphologies can constrain trail / atmosphere parameters.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5AFBC"/>
                </a:solidFill>
              </a:defRPr>
            </a:pPr>
            <a:r>
              <a:t>International Meteor Conference 2026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0F3F7"/>
                </a:solidFill>
              </a:defRPr>
            </a:pPr>
            <a:r>
              <a:t>Questions?</a:t>
            </a:r>
          </a:p>
          <a:p>
            <a:pPr algn="ctr">
              <a:defRPr sz="1800">
                <a:solidFill>
                  <a:srgbClr val="50BEDC"/>
                </a:solidFill>
              </a:defRPr>
            </a:pPr>
            <a:r>
              <a:t>Yet another epsilon meteor echo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5AFBC"/>
                </a:solidFill>
              </a:defRPr>
            </a:pPr>
            <a:r>
              <a:t>International Meteor Conference 2026  |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